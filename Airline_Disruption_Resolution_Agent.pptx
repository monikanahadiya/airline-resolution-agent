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4144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brief: an agent that resolves routine disruption cases end to end, without ever improvising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tension: helpfulness vs. strict compliance. The third card is the actual design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pillars: single source of truth, hard split between deterministic logic and the model, and a full audit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path of a single customer message. Emphasise that the deterministic policy engine sits in the middle and the model never touches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small stack. The only external dependency is Groq, and it is optional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the whole assignment rests on: policy math is code, not model judgement.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cases, three different behaviours: escalate, refuse on policy, and correct-then-escalate.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 about the split: assistants for scaffolding and iteration, Groq only at runtime and only for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Stating limits deliberately — each one is a known trade-off, not an oversight.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Swap the placeholders for the real GitHub and Drive links before submitting.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1417320"/>
            <a:ext cx="4023360" cy="4023360"/>
          </a:xfrm>
          <a:prstGeom prst="ellipse">
            <a:avLst/>
          </a:prstGeom>
          <a:solidFill>
            <a:srgbClr val="121A3F">
              <a:alpha val="0"/>
            </a:srgbClr>
          </a:solidFill>
          <a:ln w="25400">
            <a:solidFill>
              <a:srgbClr val="2630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818120" y="1920240"/>
            <a:ext cx="3017520" cy="3017520"/>
          </a:xfrm>
          <a:prstGeom prst="ellipse">
            <a:avLst/>
          </a:prstGeom>
          <a:solidFill>
            <a:srgbClr val="121A3F">
              <a:alpha val="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321040" y="2423160"/>
            <a:ext cx="2011680" cy="2011680"/>
          </a:xfrm>
          <a:prstGeom prst="ellipse">
            <a:avLst/>
          </a:prstGeom>
          <a:solidFill>
            <a:srgbClr val="121A3F">
              <a:alpha val="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015984" y="3118104"/>
            <a:ext cx="621792" cy="621792"/>
          </a:xfrm>
          <a:prstGeom prst="ellipse">
            <a:avLst/>
          </a:prstGeom>
          <a:solidFill>
            <a:srgbClr val="D98A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49808" y="1874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8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3  ·  AIONOS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8600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Airline Disruption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Agent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411480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customer-facing AI support agent for flight cancellations and delays — natural in conversation, deterministic on policy.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5349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Monika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11055096" cy="1298448"/>
          </a:xfrm>
          <a:prstGeom prst="roundRect">
            <a:avLst>
              <a:gd name="adj" fmla="val 5634"/>
            </a:avLst>
          </a:prstGeom>
          <a:solidFill>
            <a:srgbClr val="EFF4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32688" y="2002536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32688" y="20025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618488" y="1819656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is expected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18488" y="220370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 need routine disruption cases — cancellations, delays — resolved instantly, without a customer waiting in a queue for a human agent.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081528"/>
            <a:ext cx="11055096" cy="1298448"/>
          </a:xfrm>
          <a:prstGeom prst="roundRect">
            <a:avLst>
              <a:gd name="adj" fmla="val 5634"/>
            </a:avLst>
          </a:prstGeom>
          <a:solidFill>
            <a:srgbClr val="EFF4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32688" y="3483864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932688" y="34838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618488" y="3300984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compliance is non-negotiable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18488" y="3685032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"sounding right" isn't enough. Every compensation, refund and rebooking decision must match the written rules exactly.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4562856"/>
            <a:ext cx="11055096" cy="1298448"/>
          </a:xfrm>
          <a:prstGeom prst="roundRect">
            <a:avLst>
              <a:gd name="adj" fmla="val 5634"/>
            </a:avLst>
          </a:prstGeom>
          <a:solidFill>
            <a:srgbClr val="FCF1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32688" y="4965192"/>
            <a:ext cx="493776" cy="493776"/>
          </a:xfrm>
          <a:prstGeom prst="ellipse">
            <a:avLst/>
          </a:prstGeom>
          <a:solidFill>
            <a:srgbClr val="D98A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932688" y="49651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618488" y="478231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8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challenge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18488" y="5166360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agent that is helpful and natural in tone, never improvises policy, and knows precisely when to step aside for a human.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3776" y="1645920"/>
            <a:ext cx="3520440" cy="384048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B9C4DA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41248" y="19933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41248" y="1993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74320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one source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383280"/>
            <a:ext cx="282549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 agent grounded entirely in policy_data.json — customers, bookings, service rules, allowed and prohibited actions. Nothing outside that file is treated as true.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34256" y="1645920"/>
            <a:ext cx="3520440" cy="384048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B9C4DA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81728" y="19933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681728" y="1993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81728" y="274320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hard split of duties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3383280"/>
            <a:ext cx="282549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owns every policy decision: compensation bands, the fare-difference cap, escalation triggers. The LLM only classifies intent and phrases the reply.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74736" y="1645920"/>
            <a:ext cx="3520440" cy="384048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B9C4DA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522208" y="19933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522208" y="1993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522208" y="274320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Traceable by design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522208" y="3383280"/>
            <a:ext cx="282549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 is written to an append-only audit trail, so what was decided — and why — can be reconstructed for any conversation.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MESSAGE TRAVELS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Process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0916" y="1572768"/>
            <a:ext cx="2606040" cy="1170432"/>
          </a:xfrm>
          <a:prstGeom prst="roundRect">
            <a:avLst>
              <a:gd name="adj" fmla="val 5469"/>
            </a:avLst>
          </a:prstGeom>
          <a:solidFill>
            <a:srgbClr val="EFF4FD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35508" y="16824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35508" y="1956816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message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35508" y="228600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chat.js front-end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 rot="5400000">
            <a:off x="3136392" y="2075688"/>
            <a:ext cx="155448" cy="164592"/>
          </a:xfrm>
          <a:prstGeom prst="triangl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351276" y="1572768"/>
            <a:ext cx="2606040" cy="1170432"/>
          </a:xfrm>
          <a:prstGeom prst="roundRect">
            <a:avLst>
              <a:gd name="adj" fmla="val 5469"/>
            </a:avLst>
          </a:prstGeom>
          <a:solidFill>
            <a:srgbClr val="EFF4FD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515868" y="16824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515868" y="1956816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3515868" y="228600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server/app.py → agent.py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 rot="5400000">
            <a:off x="6016752" y="2075688"/>
            <a:ext cx="155448" cy="164592"/>
          </a:xfrm>
          <a:prstGeom prst="triangl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231636" y="1572768"/>
            <a:ext cx="2606040" cy="1170432"/>
          </a:xfrm>
          <a:prstGeom prst="roundRect">
            <a:avLst>
              <a:gd name="adj" fmla="val 5469"/>
            </a:avLst>
          </a:prstGeom>
          <a:solidFill>
            <a:srgbClr val="EFF4FD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396228" y="16824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396228" y="1956816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Legal-language check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396228" y="228600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screen on input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 rot="5400000">
            <a:off x="8897112" y="2075688"/>
            <a:ext cx="155448" cy="164592"/>
          </a:xfrm>
          <a:prstGeom prst="triangl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111996" y="1572768"/>
            <a:ext cx="2606040" cy="1170432"/>
          </a:xfrm>
          <a:prstGeom prst="roundRect">
            <a:avLst>
              <a:gd name="adj" fmla="val 5469"/>
            </a:avLst>
          </a:prstGeom>
          <a:solidFill>
            <a:srgbClr val="EFF4FD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9276588" y="16824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276588" y="1956816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classification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9276588" y="228600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JSON-only label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0916" y="3246120"/>
            <a:ext cx="2606040" cy="1170432"/>
          </a:xfrm>
          <a:prstGeom prst="roundRect">
            <a:avLst>
              <a:gd name="adj" fmla="val 5469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635508" y="33558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8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35508" y="363016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635508" y="3959352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escalation.py · deterministic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 rot="5400000">
            <a:off x="3136392" y="3749040"/>
            <a:ext cx="155448" cy="164592"/>
          </a:xfrm>
          <a:prstGeom prst="triangl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351276" y="3246120"/>
            <a:ext cx="2606040" cy="1170432"/>
          </a:xfrm>
          <a:prstGeom prst="roundRect">
            <a:avLst>
              <a:gd name="adj" fmla="val 5469"/>
            </a:avLst>
          </a:prstGeom>
          <a:solidFill>
            <a:srgbClr val="EFF4FD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3515868" y="33558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515868" y="363016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assembled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3515868" y="3959352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policy facts only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 rot="5400000">
            <a:off x="6016752" y="3749040"/>
            <a:ext cx="155448" cy="164592"/>
          </a:xfrm>
          <a:prstGeom prst="triangl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231636" y="3246120"/>
            <a:ext cx="2606040" cy="1170432"/>
          </a:xfrm>
          <a:prstGeom prst="roundRect">
            <a:avLst>
              <a:gd name="adj" fmla="val 5469"/>
            </a:avLst>
          </a:prstGeom>
          <a:solidFill>
            <a:srgbClr val="EFF4FD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6396228" y="33558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396228" y="363016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phrasing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6396228" y="3959352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optional layer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 rot="5400000">
            <a:off x="8897112" y="3749040"/>
            <a:ext cx="155448" cy="164592"/>
          </a:xfrm>
          <a:prstGeom prst="triangl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9111996" y="3246120"/>
            <a:ext cx="2606040" cy="1170432"/>
          </a:xfrm>
          <a:prstGeom prst="roundRect">
            <a:avLst>
              <a:gd name="adj" fmla="val 5469"/>
            </a:avLst>
          </a:prstGeom>
          <a:solidFill>
            <a:srgbClr val="EFF4FD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9276588" y="33558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276588" y="363016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+ audit log</a:t>
            </a:r>
            <a:endParaRPr lang="en-US" sz="1450" dirty="0"/>
          </a:p>
        </p:txBody>
      </p:sp>
      <p:sp>
        <p:nvSpPr>
          <p:cNvPr id="41" name="Text 39"/>
          <p:cNvSpPr txBox="1"/>
          <p:nvPr/>
        </p:nvSpPr>
        <p:spPr>
          <a:xfrm>
            <a:off x="9276588" y="3959352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→ audit_trail.jsonl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 rot="10800000">
            <a:off x="11215116" y="2962656"/>
            <a:ext cx="182880" cy="164592"/>
          </a:xfrm>
          <a:prstGeom prst="triangl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566928" y="4864608"/>
            <a:ext cx="11055096" cy="749808"/>
          </a:xfrm>
          <a:prstGeom prst="roundRect">
            <a:avLst>
              <a:gd name="adj" fmla="val 7317"/>
            </a:avLst>
          </a:prstGeom>
          <a:solidFill>
            <a:srgbClr val="FCF1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 txBox="1"/>
          <p:nvPr/>
        </p:nvSpPr>
        <p:spPr>
          <a:xfrm>
            <a:off x="841248" y="5047488"/>
            <a:ext cx="10506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8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</a:t>
            </a: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 and 5 are pure Python. The model sits at steps 4 and 7 only — it labels and it phrases, it never decides.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566928" y="5806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this flow with your architecture.png / Mermaid diagram if you prefer the rendered version.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RUNS 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3776" y="169164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04672" y="1911096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8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203704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(Flask)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752344"/>
            <a:ext cx="2898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agent.py · escalation.py · app.py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4256" y="169164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4645152" y="1911096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8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45152" y="2203704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— llama-3.1-8b-instant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45152" y="2752344"/>
            <a:ext cx="2898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tier; intent labels + phrasing only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74736" y="169164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8485632" y="1911096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8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485632" y="2203704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HTML / CSS / JS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85632" y="2752344"/>
            <a:ext cx="2898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with a PNR selector for 3 test customers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" y="365760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804672" y="3877056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8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169664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policy_data.json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4718304"/>
            <a:ext cx="2898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JSON source of truth for every rule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34256" y="365760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4645152" y="3877056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8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645152" y="4169664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JSONL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645152" y="4718304"/>
            <a:ext cx="2898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logs/audit_trail.jsonl, one entry per turn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74736" y="365760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8485632" y="3877056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8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485632" y="4169664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classifier + templates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485632" y="4718304"/>
            <a:ext cx="2898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Groq is down, the demo still runs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CHOICE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Decision: Deterministic Guardrails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5216" y="1645920"/>
            <a:ext cx="5303520" cy="4041648"/>
          </a:xfrm>
          <a:prstGeom prst="roundRect">
            <a:avLst>
              <a:gd name="adj" fmla="val 158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996696" y="193852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decides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96696" y="234086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POLICY OUTCOME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14984" y="2935224"/>
            <a:ext cx="118872" cy="118872"/>
          </a:xfrm>
          <a:prstGeom prst="ellipse">
            <a:avLst/>
          </a:prstGeom>
          <a:solidFill>
            <a:srgbClr val="D98A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298448" y="27889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bands — what a 4-hour delay earns vs. a 6-hour one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14984" y="3502152"/>
            <a:ext cx="118872" cy="118872"/>
          </a:xfrm>
          <a:prstGeom prst="ellipse">
            <a:avLst/>
          </a:prstGeom>
          <a:solidFill>
            <a:srgbClr val="D98A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1298448" y="335584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₹1,500 fare-difference cap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14984" y="4069080"/>
            <a:ext cx="118872" cy="118872"/>
          </a:xfrm>
          <a:prstGeom prst="ellipse">
            <a:avLst/>
          </a:prstGeom>
          <a:solidFill>
            <a:srgbClr val="D98A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1298448" y="392277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Legal-language detection on customer input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14984" y="4636008"/>
            <a:ext cx="118872" cy="118872"/>
          </a:xfrm>
          <a:prstGeom prst="ellipse">
            <a:avLst/>
          </a:prstGeom>
          <a:solidFill>
            <a:srgbClr val="D98A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1298448" y="448970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triggers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996696" y="5120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always produces the same compliant output.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0216" y="1645920"/>
            <a:ext cx="5303520" cy="4041648"/>
          </a:xfrm>
          <a:prstGeom prst="roundRect">
            <a:avLst>
              <a:gd name="adj" fmla="val 1584"/>
            </a:avLst>
          </a:prstGeom>
          <a:solidFill>
            <a:srgbClr val="EFF4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711696" y="193852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assists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711696" y="234086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ONLY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29984" y="2935224"/>
            <a:ext cx="118872" cy="1188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7013448" y="27889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the customer's intent into a label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729984" y="3502152"/>
            <a:ext cx="118872" cy="1188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7013448" y="335584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is validated against a fixed allow-list before use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729984" y="4069080"/>
            <a:ext cx="118872" cy="1188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7013448" y="392277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Phrases the final reply in natural language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729984" y="4636008"/>
            <a:ext cx="118872" cy="1188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7013448" y="448970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never grant, deny, or invent an entitlement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711696" y="5120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the grounding rule: never invent policy, pricing, or customer data.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REQUIRED CASES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Walkthroughs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3776" y="1627632"/>
            <a:ext cx="3520440" cy="39776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B9C4D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2296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99616" y="19568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22585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· Cancelled flight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41248" y="2907792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1115568" y="27614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rebook or refund offered from policy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" y="3621024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1115568" y="3474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Mid-conversation: turns furious, asks for a free upgrade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4334256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1115568" y="41879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is compensation beyond policy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956048"/>
            <a:ext cx="2862072" cy="420624"/>
          </a:xfrm>
          <a:prstGeom prst="roundRect">
            <a:avLst>
              <a:gd name="adj" fmla="val 13043"/>
            </a:avLst>
          </a:prstGeom>
          <a:solidFill>
            <a:srgbClr val="FCF1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22960" y="4956048"/>
            <a:ext cx="2862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D98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34256" y="1627632"/>
            <a:ext cx="3520440" cy="39776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B9C4D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663440" y="19202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466344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340096" y="19568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Arvind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340096" y="22585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· 4-hour delay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81728" y="2907792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4956048" y="27614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voucher and lounge access offered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1728" y="3621024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4956048" y="3474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a hotel; 4h sits below the 5h threshold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1728" y="4334256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4956048" y="41879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on policy, not handed to a human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4956048"/>
            <a:ext cx="2862072" cy="420624"/>
          </a:xfrm>
          <a:prstGeom prst="roundRect">
            <a:avLst>
              <a:gd name="adj" fmla="val 13043"/>
            </a:avLst>
          </a:prstGeom>
          <a:solidFill>
            <a:srgbClr val="E6F2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4663440" y="4956048"/>
            <a:ext cx="2862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 ON POLICY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74736" y="1627632"/>
            <a:ext cx="3520440" cy="39776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B9C4D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03920" y="19202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850392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9180576" y="19568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Meher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9180576" y="22585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· 6-hour delay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522208" y="2907792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8796528" y="27614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offered for the delayed hours only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522208" y="3621024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8796528" y="3474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full-night request is corrected, not accepted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522208" y="4334256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8796528" y="41879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₹2,000 fare difference exceeds the ₹1,500 cap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503920" y="4956048"/>
            <a:ext cx="2862072" cy="420624"/>
          </a:xfrm>
          <a:prstGeom prst="roundRect">
            <a:avLst>
              <a:gd name="adj" fmla="val 13043"/>
            </a:avLst>
          </a:prstGeom>
          <a:solidFill>
            <a:srgbClr val="FCF1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8503920" y="4956048"/>
            <a:ext cx="2862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D98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66928" y="58064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Arvind is the important case: the agent tells the difference between a policy "no" and a reason to fetch a human.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BUILD WAS DONE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Tools Used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5096" cy="406908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7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agent logic &amp; escalation rules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Grounding and structured refusal logic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code (Python)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iteration on agent.py and escalation.py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chat UI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/ hand-built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chat interface, minimal CSS overhead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diagram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→ Mermaid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process-flow diagram, quickly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intent classification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(llama-3.1-8b-instant)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Low-latency JSON-only label, isolated from policy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592531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AI-assisted artefact was reviewed against policy_data.json before it shipped.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EDGES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&amp; 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5216" y="1664208"/>
            <a:ext cx="5303520" cy="1938528"/>
          </a:xfrm>
          <a:prstGeom prst="roundRect">
            <a:avLst>
              <a:gd name="adj" fmla="val 2830"/>
            </a:avLst>
          </a:prstGeom>
          <a:solidFill>
            <a:srgbClr val="EFF4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32688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3268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45336" y="199339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is bounded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545336" y="2359152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 sits in policy_data.json is treated as true. Anything the file doesn't cover is escalated rather than guessed.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0216" y="1664208"/>
            <a:ext cx="5303520" cy="1938528"/>
          </a:xfrm>
          <a:prstGeom prst="roundRect">
            <a:avLst>
              <a:gd name="adj" fmla="val 2830"/>
            </a:avLst>
          </a:prstGeom>
          <a:solidFill>
            <a:srgbClr val="EFF4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647688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64768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260336" y="199339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difference is an input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7260336" y="2359152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 it would arrive from a flight-search step; scanning the message text for an amount is a demo-only fallback.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5216" y="3913632"/>
            <a:ext cx="5303520" cy="1938528"/>
          </a:xfrm>
          <a:prstGeom prst="roundRect">
            <a:avLst>
              <a:gd name="adj" fmla="val 2830"/>
            </a:avLst>
          </a:prstGeom>
          <a:solidFill>
            <a:srgbClr val="EFF4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32688" y="426110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932688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545336" y="424281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is local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1545336" y="4608576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JSONL file is right for a prototype. A production system would write the same records to a proper database.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0216" y="3913632"/>
            <a:ext cx="5303520" cy="1938528"/>
          </a:xfrm>
          <a:prstGeom prst="roundRect">
            <a:avLst>
              <a:gd name="adj" fmla="val 2830"/>
            </a:avLst>
          </a:prstGeom>
          <a:solidFill>
            <a:srgbClr val="EFF4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647688" y="426110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647688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260336" y="424281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Groq layer is optional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7260336" y="4608576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API is unavailable the system degrades to rule-based intent matching and template text, with policy behaviour unchanged.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371600"/>
            <a:ext cx="4754880" cy="4754880"/>
          </a:xfrm>
          <a:prstGeom prst="ellipse">
            <a:avLst/>
          </a:prstGeom>
          <a:solidFill>
            <a:srgbClr val="121A3F">
              <a:alpha val="0"/>
            </a:srgbClr>
          </a:solidFill>
          <a:ln w="25400">
            <a:solidFill>
              <a:srgbClr val="2630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823960" y="-777240"/>
            <a:ext cx="3566160" cy="3566160"/>
          </a:xfrm>
          <a:prstGeom prst="ellipse">
            <a:avLst/>
          </a:prstGeom>
          <a:solidFill>
            <a:srgbClr val="121A3F">
              <a:alpha val="0"/>
            </a:srgbClr>
          </a:solidFill>
          <a:ln w="25400">
            <a:solidFill>
              <a:srgbClr val="2630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749808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8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LINKS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188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run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49808" y="2331720"/>
            <a:ext cx="10424160" cy="786384"/>
          </a:xfrm>
          <a:prstGeom prst="roundRect">
            <a:avLst>
              <a:gd name="adj" fmla="val 6977"/>
            </a:avLst>
          </a:prstGeom>
          <a:solidFill>
            <a:srgbClr val="1C25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69848" y="2615184"/>
            <a:ext cx="219456" cy="219456"/>
          </a:xfrm>
          <a:prstGeom prst="ellipse">
            <a:avLst/>
          </a:prstGeom>
          <a:solidFill>
            <a:srgbClr val="D98A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527048" y="253288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242048" y="25328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https://github.com/Monikanahadiya/Airline-Resolution-Agent 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527048" y="344728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297936"/>
            <a:ext cx="10424160" cy="786384"/>
          </a:xfrm>
          <a:prstGeom prst="roundRect">
            <a:avLst>
              <a:gd name="adj" fmla="val 6977"/>
            </a:avLst>
          </a:prstGeom>
          <a:solidFill>
            <a:srgbClr val="1C25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069848" y="3581400"/>
            <a:ext cx="219456" cy="21945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1527048" y="349910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run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242048" y="34991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— one-command setup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9808" y="4212336"/>
            <a:ext cx="10424160" cy="786384"/>
          </a:xfrm>
          <a:prstGeom prst="roundRect">
            <a:avLst>
              <a:gd name="adj" fmla="val 6977"/>
            </a:avLst>
          </a:prstGeom>
          <a:solidFill>
            <a:srgbClr val="1C25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069848" y="4495800"/>
            <a:ext cx="219456" cy="21945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1527048" y="441350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sample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242048" y="44135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logs/audit_trail.jsonl — the three scenarios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6080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happy to walk through any scenario live.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1134</Words>
  <Application>Microsoft Office PowerPoint</Application>
  <PresentationFormat>Widescreen</PresentationFormat>
  <Paragraphs>179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Airline Disruption Resolution Agent</dc:title>
  <dc:subject>PptxGenJS Presentation</dc:subject>
  <dc:creator>Muskan</dc:creator>
  <cp:lastModifiedBy>Monika .</cp:lastModifiedBy>
  <cp:revision>2</cp:revision>
  <dcterms:created xsi:type="dcterms:W3CDTF">2026-09-17T14:18:04Z</dcterms:created>
  <dcterms:modified xsi:type="dcterms:W3CDTF">2026-09-17T15:18:26Z</dcterms:modified>
</cp:coreProperties>
</file>